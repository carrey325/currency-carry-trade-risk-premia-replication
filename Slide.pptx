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99CN5j/VLshVd/rMu9KsTrGLv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318F27-04AA-4D21-8B92-F12B51ACE334}">
  <a:tblStyle styleId="{53318F27-04AA-4D21-8B92-F12B51ACE334}" styleName="Table_0">
    <a:wholeTbl>
      <a:tcTxStyle b="off" i="off">
        <a:font>
          <a:latin typeface="等线"/>
          <a:ea typeface="等线"/>
          <a:cs typeface="等线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等线"/>
          <a:ea typeface="等线"/>
          <a:cs typeface="等线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等线"/>
          <a:ea typeface="等线"/>
          <a:cs typeface="等线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等线"/>
          <a:ea typeface="等线"/>
          <a:cs typeface="等线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等线"/>
          <a:ea typeface="等线"/>
          <a:cs typeface="等线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41ea2de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9141ea2de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141ea2de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9141ea2de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37234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Replication of </a:t>
            </a:r>
            <a:b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“The Term Structure of Currency Carry Trade Risk Premia”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4569065"/>
            <a:ext cx="9144000" cy="5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Yizhou Qian, Kairui Chen, Zhengshen Shi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1524000" y="3919634"/>
            <a:ext cx="9144000" cy="5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Author: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Lustig, Stathopoulos, Verdelhan (2019, AER)  </a:t>
            </a: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Google Shape;93;p2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Research Question &amp; Main Findings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1262324" y="854520"/>
          <a:ext cx="451352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451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Core Questions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At a </a:t>
                      </a:r>
                      <a:r>
                        <a:rPr lang="en-US" sz="1400" b="1"/>
                        <a:t>fixed investment horizon</a:t>
                      </a:r>
                      <a:r>
                        <a:rPr lang="en-US" sz="1400"/>
                        <a:t> (e.g., 1 month / 1 quarter), if we implement carry trade strategies using bonds of different maturities: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1. Short-term (T-bill) carry trades → large and significant positive risk premia (classic UIP puzzle).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2. As the bond maturity increases, the </a:t>
                      </a:r>
                      <a:r>
                        <a:rPr lang="en-US" sz="1400" b="1"/>
                        <a:t>USD-denominated carry return declines and converges toward zero</a:t>
                      </a:r>
                      <a:r>
                        <a:rPr lang="en-US" sz="1400"/>
                        <a:t>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Why does this produce a </a:t>
                      </a:r>
                      <a:r>
                        <a:rPr lang="en-US" sz="1400" b="1"/>
                        <a:t>downward-sloping “term structure of carry premia”</a:t>
                      </a:r>
                      <a:r>
                        <a:rPr lang="en-US" sz="1400"/>
                        <a:t>?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6" name="Google Shape;96;p2"/>
          <p:cNvGraphicFramePr/>
          <p:nvPr/>
        </p:nvGraphicFramePr>
        <p:xfrm>
          <a:off x="6416152" y="854520"/>
          <a:ext cx="451352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451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Main empirical findings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Long-term local-currency bond term premia rise with maturity.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But from the US investor’s perspective, local term premia </a:t>
                      </a:r>
                      <a:r>
                        <a:rPr lang="en-US" sz="1400" b="1"/>
                        <a:t>largely offset</a:t>
                      </a:r>
                      <a:r>
                        <a:rPr lang="en-US" sz="1400"/>
                        <a:t> currency risk premia ⇒ almost no carry premium at long maturities.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" name="Google Shape;102;p3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Replication Goals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" name="Google Shape;103;p3"/>
          <p:cNvGraphicFramePr/>
          <p:nvPr/>
        </p:nvGraphicFramePr>
        <p:xfrm>
          <a:off x="1262324" y="854520"/>
          <a:ext cx="28557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&amp; Construction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Rebuild G10 sovereign bond and FX data.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Reconstruct short rates, yield-curve slopes, zero-coupon bond prices, etc.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" name="Google Shape;104;p3"/>
          <p:cNvGraphicFramePr/>
          <p:nvPr/>
        </p:nvGraphicFramePr>
        <p:xfrm>
          <a:off x="4668117" y="854520"/>
          <a:ext cx="28557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Core Empirical Results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Time-series regressions: Table 1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Strategy Sharpe ratios: Table 2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Cross-sectional portfolios: Table 3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Main figures: Figure 1 and Figure 2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" name="Google Shape;105;p3"/>
          <p:cNvGraphicFramePr/>
          <p:nvPr/>
        </p:nvGraphicFramePr>
        <p:xfrm>
          <a:off x="8073911" y="854520"/>
          <a:ext cx="28557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Validation &amp; Insights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Compare: original vs our results (coefficients, R², Sharpe ratios, term structures).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Discuss: do we reproduce the key facts? Where do we see differences? What did we learn?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Google Shape;110;p4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1" name="Google Shape;111;p4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Carry Trades &amp; the UIP Puzzle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2" name="Google Shape;112;p4"/>
          <p:cNvGraphicFramePr/>
          <p:nvPr/>
        </p:nvGraphicFramePr>
        <p:xfrm>
          <a:off x="1262324" y="854520"/>
          <a:ext cx="28557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UIP Condition (log form)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Under risk neutrality, expected carry returns should be zero.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3" name="Google Shape;113;p4"/>
          <p:cNvGraphicFramePr/>
          <p:nvPr/>
        </p:nvGraphicFramePr>
        <p:xfrm>
          <a:off x="4668117" y="854520"/>
          <a:ext cx="28557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Empirical fact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Borrow low-interest-rate currency, lend high-interest-rate currency (using short-maturity T-bills)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⇒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Positive, significant excess returns</a:t>
                      </a:r>
                      <a:r>
                        <a:rPr lang="en-US" sz="1400"/>
                        <a:t> (carry trades).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4" name="Google Shape;114;p4"/>
          <p:cNvGraphicFramePr/>
          <p:nvPr/>
        </p:nvGraphicFramePr>
        <p:xfrm>
          <a:off x="8073911" y="854520"/>
          <a:ext cx="28557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New angle of this paper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Not only short rates, but </a:t>
                      </a:r>
                      <a:r>
                        <a:rPr lang="en-US" sz="1400" b="1"/>
                        <a:t>the entire term structure of carry at a fixed horizon</a:t>
                      </a:r>
                      <a:r>
                        <a:rPr lang="en-US" sz="1400"/>
                        <a:t>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If we implement the same carry idea using 10-year bonds, or a full set of zero-coupon bonds, what happens?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743" y="1305131"/>
            <a:ext cx="2066925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p5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1" name="Google Shape;121;p5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Decomposing Foreign Bond Returns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5362" y="824461"/>
            <a:ext cx="258127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-967953" y="2032731"/>
            <a:ext cx="72691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USD excess return of a foreign k-period bond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2461422" y="3168118"/>
            <a:ext cx="72691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Local-currency bond excess return (local term premium)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5592749" y="2032731"/>
            <a:ext cx="726915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Currency excess return (FX carry premium)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5"/>
          <p:cNvCxnSpPr>
            <a:stCxn id="122" idx="2"/>
            <a:endCxn id="124" idx="0"/>
          </p:cNvCxnSpPr>
          <p:nvPr/>
        </p:nvCxnSpPr>
        <p:spPr>
          <a:xfrm>
            <a:off x="6096000" y="1310236"/>
            <a:ext cx="0" cy="1857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" name="Google Shape;127;p5"/>
          <p:cNvCxnSpPr>
            <a:endCxn id="123" idx="0"/>
          </p:cNvCxnSpPr>
          <p:nvPr/>
        </p:nvCxnSpPr>
        <p:spPr>
          <a:xfrm flipH="1">
            <a:off x="2666623" y="1288431"/>
            <a:ext cx="2496300" cy="744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" name="Google Shape;128;p5"/>
          <p:cNvCxnSpPr>
            <a:endCxn id="125" idx="0"/>
          </p:cNvCxnSpPr>
          <p:nvPr/>
        </p:nvCxnSpPr>
        <p:spPr>
          <a:xfrm>
            <a:off x="7028924" y="1310331"/>
            <a:ext cx="2198400" cy="722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p5"/>
          <p:cNvSpPr txBox="1"/>
          <p:nvPr/>
        </p:nvSpPr>
        <p:spPr>
          <a:xfrm>
            <a:off x="3258505" y="3874445"/>
            <a:ext cx="567498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difference between short and long maturities is not just about FX;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Long-maturity foreign bonds also load heavily on local term structure risk. The local term premia can systematically offset FX premia.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6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6" name="Google Shape;136;p6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Data &amp; Sample Design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7" name="Google Shape;137;p6"/>
          <p:cNvGraphicFramePr/>
          <p:nvPr/>
        </p:nvGraphicFramePr>
        <p:xfrm>
          <a:off x="1262324" y="854520"/>
          <a:ext cx="28557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Countries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G10: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Australia, Canada, Germany, Japan, New Zealand, Norway, Sweden, Switzerland, UK.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8" name="Google Shape;138;p6"/>
          <p:cNvGraphicFramePr/>
          <p:nvPr/>
        </p:nvGraphicFramePr>
        <p:xfrm>
          <a:off x="4668117" y="854520"/>
          <a:ext cx="28557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Sample Periods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Coupon bond indices: 1951:1–2015:12 (monthly).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Main sample: 1975:1–2015:12 (post-Bretton Woods).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Zero-coupon bonds: roughly 1985:4–2015:12 (for Figure 2).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9" name="Google Shape;139;p6"/>
          <p:cNvGraphicFramePr/>
          <p:nvPr/>
        </p:nvGraphicFramePr>
        <p:xfrm>
          <a:off x="8073911" y="854520"/>
          <a:ext cx="28557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Assets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Short-end: T-bills (1M/3M).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Long-end: 10-year government bond indices (coupon), plus multiple-maturity zero-coupon bonds.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7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" name="Google Shape;145;p7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Key Variables &amp; Our Implementation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" name="Google Shape;146;p7"/>
          <p:cNvGraphicFramePr/>
          <p:nvPr/>
        </p:nvGraphicFramePr>
        <p:xfrm>
          <a:off x="1262324" y="854520"/>
          <a:ext cx="9113900" cy="15434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911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Regression Function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7" name="Google Shape;147;p7"/>
          <p:cNvGraphicFramePr/>
          <p:nvPr/>
        </p:nvGraphicFramePr>
        <p:xfrm>
          <a:off x="1262327" y="2795245"/>
          <a:ext cx="9113900" cy="2015745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911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 Identity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9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8" name="Google Shape;14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850" y="1456520"/>
            <a:ext cx="40100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0062" y="3313125"/>
            <a:ext cx="7058426" cy="13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9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5" name="Google Shape;155;p9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Results: Interest Rate Differentials (Table 1 Panel A)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475" y="1490673"/>
            <a:ext cx="7639050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Google Shape;161;p10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" name="Google Shape;162;p10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Results: Slope Differentials (Table 1 Panel B)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t="-2986"/>
          <a:stretch/>
        </p:blipFill>
        <p:spPr>
          <a:xfrm>
            <a:off x="2276475" y="1423416"/>
            <a:ext cx="7639050" cy="40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Google Shape;168;p11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9" name="Google Shape;169;p11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Economic Significance: Sharpe Ratios (Table 2) - Panel A. Short-term interest rates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0" name="Google Shape;170;p11"/>
          <p:cNvGraphicFramePr/>
          <p:nvPr/>
        </p:nvGraphicFramePr>
        <p:xfrm>
          <a:off x="663688" y="847942"/>
          <a:ext cx="451352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451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Short Rate &amp; Slope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Construct simple long–short strategies based on short-rate and slope differentials (e.g., long high-rate, short low-rate portfolios).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Compute: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Mean, volatility, and Sharpe ratio for FX carry.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Mean, volatility, and Sharpe ratio for local bond term premia.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 for USD foreign bond excess returns.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1" name="Google Shape;17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5470" y="1030954"/>
            <a:ext cx="5702842" cy="5031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Google Shape;176;p12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7" name="Google Shape;177;p12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Economic Significance: Sharpe Ratios (Table 2) - Panel B. Yield curve slopes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8" name="Google Shape;178;p12"/>
          <p:cNvGraphicFramePr/>
          <p:nvPr/>
        </p:nvGraphicFramePr>
        <p:xfrm>
          <a:off x="663688" y="847942"/>
          <a:ext cx="451352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451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Short Rate &amp; Slope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Construct simple long–short strategies based on short-rate and slope differentials (e.g., long high-rate, short low-rate portfolios).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Compute: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Mean, volatility, and Sharpe ratio for FX carry.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Mean, volatility, and Sharpe ratio for local bond term premia.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 for USD foreign bond excess returns.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9" name="Google Shape;17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4134" y="1106818"/>
            <a:ext cx="5879883" cy="4644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p14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5" name="Google Shape;185;p14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Figure 1: Cumulative Returns Decomposition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6" name="Google Shape;186;p14" descr="图表, 折线图&#10;&#10;AI 生成的内容可能不正确。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6313" y="663762"/>
            <a:ext cx="7900680" cy="5530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14"/>
          <p:cNvGraphicFramePr/>
          <p:nvPr/>
        </p:nvGraphicFramePr>
        <p:xfrm>
          <a:off x="650530" y="847942"/>
          <a:ext cx="28820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8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 Observations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The FX cumulative return is positive overall (carry trade makes money).</a:t>
                      </a:r>
                      <a:endParaRPr/>
                    </a:p>
                    <a:p>
                      <a:pPr marL="285750" marR="0" lvl="0" indent="-196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The local bond cumulative return is negative overall (term premia offset FX).</a:t>
                      </a:r>
                      <a:endParaRPr/>
                    </a:p>
                    <a:p>
                      <a:pPr marL="285750" marR="0" lvl="0" indent="-196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The combined USD foreign bond cumulative return is roughly flat or slowly drifting ⇒ little long-run trend in USD foreign bond excess returns.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" name="Google Shape;192;p15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3" name="Google Shape;193;p15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Figure 2: Term Structure of Carry Premia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4" name="Google Shape;194;p15" descr="图表&#10;&#10;AI 生成的内容可能不正确。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9290" y="728974"/>
            <a:ext cx="7315215" cy="54864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15"/>
          <p:cNvGraphicFramePr/>
          <p:nvPr/>
        </p:nvGraphicFramePr>
        <p:xfrm>
          <a:off x="650530" y="847942"/>
          <a:ext cx="2882075" cy="53975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288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 Observations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50"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Short maturities (3M–1Y) have significantly positive carry premia.</a:t>
                      </a:r>
                      <a:endParaRPr/>
                    </a:p>
                    <a:p>
                      <a:pPr marL="285750" marR="0" lvl="0" indent="-196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As maturity increases, expected returns decline monotonically.</a:t>
                      </a:r>
                      <a:endParaRPr/>
                    </a:p>
                    <a:p>
                      <a:pPr marL="285750" marR="0" lvl="0" indent="-196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At long maturities (around 15 years), point estimates are close to zero; confidence intervals include zero ⇒ no significant carry premium.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16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1" name="Google Shape;201;p16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Theory Highlight: Preference-Free Condition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2" name="Google Shape;202;p16"/>
          <p:cNvGraphicFramePr/>
          <p:nvPr/>
        </p:nvGraphicFramePr>
        <p:xfrm>
          <a:off x="1401933" y="854520"/>
          <a:ext cx="9388125" cy="216410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938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 theoretical idea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In complete markets, the stochastic discount factor (SDF) can be decomposed into a </a:t>
                      </a:r>
                      <a:r>
                        <a:rPr lang="en-US" sz="1400" b="1"/>
                        <a:t>permanent component</a:t>
                      </a:r>
                      <a:r>
                        <a:rPr lang="en-US" sz="1400"/>
                        <a:t> and a </a:t>
                      </a:r>
                      <a:r>
                        <a:rPr lang="en-US" sz="1400" b="1"/>
                        <a:t>transitory component</a:t>
                      </a:r>
                      <a:r>
                        <a:rPr lang="en-US" sz="1400"/>
                        <a:t>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Long-maturity local-currency bond risk premia are mainly determined by the risk of the </a:t>
                      </a:r>
                      <a:r>
                        <a:rPr lang="en-US" sz="1400" b="1"/>
                        <a:t>transitory component</a:t>
                      </a:r>
                      <a:r>
                        <a:rPr lang="en-US" sz="1400"/>
                        <a:t>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The empirical finding that long-maturity foreign bonds in local currency have almost no carry implies that the </a:t>
                      </a:r>
                      <a:r>
                        <a:rPr lang="en-US" sz="1400" b="1"/>
                        <a:t>permanent components of SDFs across currencies must be aligned</a:t>
                      </a:r>
                      <a:r>
                        <a:rPr lang="en-US" sz="1400"/>
                        <a:t> in a specific way.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Google Shape;207;g39141ea2de8_0_1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8" name="Google Shape;208;g39141ea2de8_0_1"/>
          <p:cNvGraphicFramePr/>
          <p:nvPr>
            <p:extLst>
              <p:ext uri="{D42A27DB-BD31-4B8C-83A1-F6EECF244321}">
                <p14:modId xmlns:p14="http://schemas.microsoft.com/office/powerpoint/2010/main" val="827626905"/>
              </p:ext>
            </p:extLst>
          </p:nvPr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Expansion: C</a:t>
                      </a:r>
                      <a:r>
                        <a:rPr lang="en-US" altLang="zh-CN" sz="2400" dirty="0"/>
                        <a:t>ompare with Volatility</a:t>
                      </a:r>
                      <a:endParaRPr sz="24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C189F46D-F041-7C89-AFA5-17AE80FB5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" name="Google Shape;223;g39141ea2de8_0_15"/>
          <p:cNvGraphicFramePr/>
          <p:nvPr/>
        </p:nvGraphicFramePr>
        <p:xfrm>
          <a:off x="0" y="6487160"/>
          <a:ext cx="12192000" cy="37085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4" name="Google Shape;224;g39141ea2de8_0_15"/>
          <p:cNvGraphicFramePr/>
          <p:nvPr/>
        </p:nvGraphicFramePr>
        <p:xfrm>
          <a:off x="0" y="0"/>
          <a:ext cx="12192000" cy="45721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Final Conclusion &amp; Future Work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5" name="Google Shape;225;g39141ea2de8_0_15"/>
          <p:cNvGraphicFramePr/>
          <p:nvPr/>
        </p:nvGraphicFramePr>
        <p:xfrm>
          <a:off x="1401933" y="854520"/>
          <a:ext cx="9388125" cy="21588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938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Summary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Short-end foreign bond returns differ strongly across countries.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Long-maturity returns converge, producing a downward-sloping carry term structure.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Models must match equal permanent kernel volatility across countries.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6" name="Google Shape;226;g39141ea2de8_0_15"/>
          <p:cNvGraphicFramePr/>
          <p:nvPr/>
        </p:nvGraphicFramePr>
        <p:xfrm>
          <a:off x="1635276" y="3410640"/>
          <a:ext cx="8892425" cy="2158820"/>
        </p:xfrm>
        <a:graphic>
          <a:graphicData uri="http://schemas.openxmlformats.org/drawingml/2006/table">
            <a:tbl>
              <a:tblPr firstRow="1" bandRow="1">
                <a:noFill/>
                <a:tableStyleId>{53318F27-04AA-4D21-8B92-F12B51ACE334}</a:tableStyleId>
              </a:tblPr>
              <a:tblGrid>
                <a:gridCol w="889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Future Work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5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Extend the analysis to more recent data and a broader set of countries (including EM).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Extend the analysis to more recent time period (from 2016-now, data available on Reuters)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</Words>
  <Application>Microsoft Office PowerPoint</Application>
  <PresentationFormat>宽屏</PresentationFormat>
  <Paragraphs>118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Arial</vt:lpstr>
      <vt:lpstr>Times New Roman</vt:lpstr>
      <vt:lpstr>Office 主题​​</vt:lpstr>
      <vt:lpstr>Replication of  “The Term Structure of Currency Carry Trade Risk Premia”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Replication of  “The Term Structure of Currency Carry Trade Risk Premia”</dc:title>
  <dc:creator>政燊 施</dc:creator>
  <cp:lastModifiedBy>？ 嗯</cp:lastModifiedBy>
  <cp:revision>1</cp:revision>
  <dcterms:created xsi:type="dcterms:W3CDTF">2025-12-02T07:10:35Z</dcterms:created>
  <dcterms:modified xsi:type="dcterms:W3CDTF">2025-12-08T03:13:05Z</dcterms:modified>
</cp:coreProperties>
</file>